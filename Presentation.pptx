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4" r:id="rId6"/>
    <p:sldId id="265" r:id="rId7"/>
    <p:sldId id="260" r:id="rId8"/>
    <p:sldId id="263" r:id="rId9"/>
    <p:sldId id="261" r:id="rId10"/>
    <p:sldId id="262"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292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 Id="rId3" Type="http://schemas.openxmlformats.org/officeDocument/2006/relationships/image" Target="../media/icon_planning.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 Id="rId3" Type="http://schemas.openxmlformats.org/officeDocument/2006/relationships/image" Target="../media/icon_python.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3" Type="http://schemas.openxmlformats.org/officeDocument/2006/relationships/image" Target="../media/icon_pandas.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 Id="rId3" Type="http://schemas.openxmlformats.org/officeDocument/2006/relationships/image" Target="../media/icon_analysis.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3" Type="http://schemas.openxmlformats.org/officeDocument/2006/relationships/image" Target="../media/icon_sqlserver.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3" Type="http://schemas.openxmlformats.org/officeDocument/2006/relationships/image" Target="../media/icon_sql.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 Id="rId3" Type="http://schemas.openxmlformats.org/officeDocument/2006/relationships/image" Target="../media/icon_design.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3" Type="http://schemas.openxmlformats.org/officeDocument/2006/relationships/image" Target="../media/icon_excel.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3" Type="http://schemas.openxmlformats.org/officeDocument/2006/relationships/image" Target="../media/icon_powerbi.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4B8A6"/>
          </a:solidFill>
          <a:ln/>
        </p:spPr>
        <p:txBody>
          <a:bodyPr/>
          <a:lstStyle/>
          <a:p>
            <a:endParaRPr lang="en-US"/>
          </a:p>
        </p:txBody>
      </p:sp>
      <p:sp>
        <p:nvSpPr>
          <p:cNvPr id="3" name="Text 1"/>
          <p:cNvSpPr txBox="1"/>
          <p:nvPr/>
        </p:nvSpPr>
        <p:spPr>
          <a:xfrm>
            <a:off x="822960" y="2103120"/>
            <a:ext cx="9144000" cy="365760"/>
          </a:xfrm>
          <a:prstGeom prst="rect">
            <a:avLst/>
          </a:prstGeom>
          <a:noFill/>
          <a:ln/>
        </p:spPr>
        <p:txBody>
          <a:bodyPr wrap="square" rtlCol="0" anchor="ctr"/>
          <a:lstStyle/>
          <a:p>
            <a:pPr marL="0" indent="0">
              <a:buNone/>
            </a:pPr>
            <a:r>
              <a:rPr lang="en-US" sz="1300" b="1" kern="0" spc="300" dirty="0">
                <a:solidFill>
                  <a:srgbClr val="14B8A6"/>
                </a:solidFill>
                <a:latin typeface="Calibri" pitchFamily="34" charset="0"/>
                <a:ea typeface="Calibri" pitchFamily="34" charset="-122"/>
                <a:cs typeface="Calibri" pitchFamily="34" charset="-120"/>
              </a:rPr>
              <a:t>E-COMMERCE DATA PROJECT</a:t>
            </a:r>
            <a:endParaRPr lang="en-US" sz="1300" dirty="0"/>
          </a:p>
        </p:txBody>
      </p:sp>
      <p:sp>
        <p:nvSpPr>
          <p:cNvPr id="4" name="Text 2"/>
          <p:cNvSpPr txBox="1"/>
          <p:nvPr/>
        </p:nvSpPr>
        <p:spPr>
          <a:xfrm>
            <a:off x="777240" y="2514600"/>
            <a:ext cx="9601200" cy="1920240"/>
          </a:xfrm>
          <a:prstGeom prst="rect">
            <a:avLst/>
          </a:prstGeom>
          <a:noFill/>
          <a:ln/>
        </p:spPr>
        <p:txBody>
          <a:bodyPr wrap="square" rtlCol="0" anchor="ctr"/>
          <a:lstStyle/>
          <a:p>
            <a:pPr marL="0" indent="0">
              <a:lnSpc>
                <a:spcPct val="105000"/>
              </a:lnSpc>
              <a:buNone/>
            </a:pPr>
            <a:r>
              <a:rPr lang="en-US" sz="4600" b="1" dirty="0">
                <a:solidFill>
                  <a:srgbClr val="FFFFFF"/>
                </a:solidFill>
                <a:latin typeface="Calibri" pitchFamily="34" charset="0"/>
                <a:ea typeface="Calibri" pitchFamily="34" charset="-122"/>
                <a:cs typeface="Calibri" pitchFamily="34" charset="-120"/>
              </a:rPr>
              <a:t>What I Did,</a:t>
            </a:r>
            <a:endParaRPr lang="en-US" sz="4600" dirty="0"/>
          </a:p>
          <a:p>
            <a:pPr marL="0" indent="0">
              <a:lnSpc>
                <a:spcPct val="105000"/>
              </a:lnSpc>
              <a:buNone/>
            </a:pPr>
            <a:r>
              <a:rPr lang="en-US" sz="4600" b="1" dirty="0">
                <a:solidFill>
                  <a:srgbClr val="FFFFFF"/>
                </a:solidFill>
                <a:latin typeface="Calibri" pitchFamily="34" charset="0"/>
                <a:ea typeface="Calibri" pitchFamily="34" charset="-122"/>
                <a:cs typeface="Calibri" pitchFamily="34" charset="-120"/>
              </a:rPr>
              <a:t>Step by Step</a:t>
            </a:r>
            <a:endParaRPr lang="en-US" sz="4600" dirty="0"/>
          </a:p>
        </p:txBody>
      </p:sp>
      <p:sp>
        <p:nvSpPr>
          <p:cNvPr id="5" name="Shape 3"/>
          <p:cNvSpPr/>
          <p:nvPr/>
        </p:nvSpPr>
        <p:spPr>
          <a:xfrm>
            <a:off x="822960" y="4617720"/>
            <a:ext cx="2011680" cy="0"/>
          </a:xfrm>
          <a:prstGeom prst="line">
            <a:avLst/>
          </a:prstGeom>
          <a:noFill/>
          <a:ln w="12700">
            <a:solidFill>
              <a:srgbClr val="2E4468"/>
            </a:solidFill>
            <a:prstDash val="solid"/>
          </a:ln>
        </p:spPr>
        <p:txBody>
          <a:bodyPr/>
          <a:lstStyle/>
          <a:p>
            <a:endParaRPr lang="en-US"/>
          </a:p>
        </p:txBody>
      </p:sp>
      <p:sp>
        <p:nvSpPr>
          <p:cNvPr id="6" name="Text 4"/>
          <p:cNvSpPr txBox="1"/>
          <p:nvPr/>
        </p:nvSpPr>
        <p:spPr>
          <a:xfrm>
            <a:off x="822960" y="4754880"/>
            <a:ext cx="8229600" cy="457200"/>
          </a:xfrm>
          <a:prstGeom prst="rect">
            <a:avLst/>
          </a:prstGeom>
          <a:noFill/>
          <a:ln/>
        </p:spPr>
        <p:txBody>
          <a:bodyPr wrap="square" rtlCol="0" anchor="ctr"/>
          <a:lstStyle/>
          <a:p>
            <a:pPr marL="0" indent="0">
              <a:buNone/>
            </a:pPr>
            <a:r>
              <a:rPr lang="en-US" sz="1500" dirty="0">
                <a:solidFill>
                  <a:srgbClr val="A9B8CE"/>
                </a:solidFill>
                <a:latin typeface="Calibri" pitchFamily="34" charset="0"/>
                <a:ea typeface="Calibri" pitchFamily="34" charset="-122"/>
                <a:cs typeface="Calibri" pitchFamily="34" charset="-120"/>
              </a:rPr>
              <a:t>From generating the data in Python to a live Power BI dashboard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01</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1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Planning"/>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Planning</a:t>
            </a:r>
          </a:p>
        </p:txBody>
      </p:sp>
      <p:sp>
        <p:nvSpPr>
          <p:cNvPr id="8" name="Progress 1"/>
          <p:cNvSpPr/>
          <p:nvPr/>
        </p:nvSpPr>
        <p:spPr>
          <a:xfrm>
            <a:off x="521208" y="5961888"/>
            <a:ext cx="182880" cy="182880"/>
          </a:xfrm>
          <a:prstGeom prst="ellipse">
            <a:avLst/>
          </a:prstGeom>
          <a:solidFill>
            <a:srgbClr val="14B8A6"/>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2E4468"/>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2E4468"/>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2E4468"/>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2E4468"/>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2E4468"/>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Chose the Topic and Planned the Tables</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Before writing a single line of code, I picked E-commerce as the subject and sketched out six tables around a real online-store workflow — customers, products, orders, order items, payments, and reviews.</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Decided how the tables would connect: an order belongs to a customer, an order has items, items point to products.</a:t>
            </a:r>
          </a:p>
        </p:txBody>
      </p:sp>
      <p:sp>
        <p:nvSpPr>
          <p:cNvPr id="23" name="Card 2"/>
          <p:cNvSpPr/>
          <p:nvPr/>
        </p:nvSpPr>
        <p:spPr>
          <a:xfrm>
            <a:off x="4480560" y="4160520"/>
            <a:ext cx="7223760" cy="82296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325112"/>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325112"/>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64008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This plan is what everything else in the project was built on.</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02</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2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Python · Colab"/>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Python · Colab</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50392" y="5961888"/>
            <a:ext cx="182880" cy="182880"/>
          </a:xfrm>
          <a:prstGeom prst="ellipse">
            <a:avLst/>
          </a:prstGeom>
          <a:solidFill>
            <a:srgbClr val="14B8A6"/>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2E4468"/>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2E4468"/>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2E4468"/>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2E4468"/>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Generated the Data With Python</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I used the Faker library in Google Colab to generate thousands of realistic rows for all six tables, instead of using a ready-made dataset from Kaggle.</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Ended up with 800 customers, 149 products, 2,757 orders and 8,181 order items.</a:t>
            </a:r>
          </a:p>
        </p:txBody>
      </p:sp>
      <p:sp>
        <p:nvSpPr>
          <p:cNvPr id="23" name="Card 2"/>
          <p:cNvSpPr/>
          <p:nvPr/>
        </p:nvSpPr>
        <p:spPr>
          <a:xfrm>
            <a:off x="4480560" y="4160520"/>
            <a:ext cx="7223760" cy="109728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462272"/>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462272"/>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91440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I also deliberately injected realistic problems on purpose — missing emails, duplicate rows, inconsistent city names, negative stock, invalid ratings — so I would have real issues to clean.</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03</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3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Python · pandas"/>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Python · pandas</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179576" y="5961888"/>
            <a:ext cx="182880" cy="182880"/>
          </a:xfrm>
          <a:prstGeom prst="ellipse">
            <a:avLst/>
          </a:prstGeom>
          <a:solidFill>
            <a:srgbClr val="14B8A6"/>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2E4468"/>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2E4468"/>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2E4468"/>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Cleaned the Data With pandas</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Back in the same notebook, I wrote a cleaning script with pandas to fix every issue I had introduced on purpose.</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Removed duplicate rows, standardized city name formatting, filled in missing values.</a:t>
            </a:r>
          </a:p>
        </p:txBody>
      </p:sp>
      <p:sp>
        <p:nvSpPr>
          <p:cNvPr id="23" name="Card 2"/>
          <p:cNvSpPr/>
          <p:nvPr/>
        </p:nvSpPr>
        <p:spPr>
          <a:xfrm>
            <a:off x="4480560" y="416052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334256"/>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33425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Fixed negative stock quantities, dropped invalid ratings and orphan rows with no matching order.</a:t>
            </a:r>
          </a:p>
        </p:txBody>
      </p:sp>
      <p:sp>
        <p:nvSpPr>
          <p:cNvPr id="27" name="Card 3"/>
          <p:cNvSpPr/>
          <p:nvPr/>
        </p:nvSpPr>
        <p:spPr>
          <a:xfrm>
            <a:off x="4480560" y="516636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8" name="Badge 3"/>
          <p:cNvSpPr/>
          <p:nvPr/>
        </p:nvSpPr>
        <p:spPr>
          <a:xfrm>
            <a:off x="4754880" y="5340096"/>
            <a:ext cx="493776" cy="493776"/>
          </a:xfrm>
          <a:prstGeom prst="ellipse">
            <a:avLst/>
          </a:prstGeom>
          <a:solidFill>
            <a:srgbClr val="0B8A7B"/>
          </a:solidFill>
          <a:ln>
            <a:noFill/>
          </a:ln>
        </p:spPr>
        <p:txBody>
          <a:bodyPr/>
          <a:lstStyle/>
          <a:p>
            <a:endParaRPr lang="en-US"/>
          </a:p>
        </p:txBody>
      </p:sp>
      <p:sp>
        <p:nvSpPr>
          <p:cNvPr id="29" name="Badge num 3"/>
          <p:cNvSpPr txBox="1"/>
          <p:nvPr/>
        </p:nvSpPr>
        <p:spPr>
          <a:xfrm>
            <a:off x="4754880" y="534009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3</a:t>
            </a:r>
          </a:p>
        </p:txBody>
      </p:sp>
      <p:sp>
        <p:nvSpPr>
          <p:cNvPr id="30" name="Card text 3"/>
          <p:cNvSpPr txBox="1"/>
          <p:nvPr/>
        </p:nvSpPr>
        <p:spPr>
          <a:xfrm>
            <a:off x="5486400" y="525780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The result was a fully clean set of CSV files, ready to load into a database.</a:t>
            </a:r>
          </a:p>
        </p:txBody>
      </p:sp>
      <p:sp>
        <p:nvSpPr>
          <p:cNvPr id="31"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04</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4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Python Analysis"/>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Python Analysis</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08760" y="5961888"/>
            <a:ext cx="182880" cy="182880"/>
          </a:xfrm>
          <a:prstGeom prst="ellipse">
            <a:avLst/>
          </a:prstGeom>
          <a:solidFill>
            <a:srgbClr val="14B8A6"/>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2E4468"/>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2E4468"/>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Analyzed the Data With Python</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I went back to Python — pandas, matplotlib and seaborn — to turn the cleaned data into charts and a customer segmentation.</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Charted the monthly sales trend, the top 10 products by revenue, and the sales share by category.</a:t>
            </a:r>
          </a:p>
        </p:txBody>
      </p:sp>
      <p:sp>
        <p:nvSpPr>
          <p:cNvPr id="23" name="Card 2"/>
          <p:cNvSpPr/>
          <p:nvPr/>
        </p:nvSpPr>
        <p:spPr>
          <a:xfrm>
            <a:off x="4480560" y="416052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334256"/>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33425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Segmented customers into High / Medium / Low value tiers based on total spending.</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marL="0" indent="0">
              <a:buNone/>
            </a:pPr>
            <a:r>
              <a:rPr lang="en-US" sz="1200" b="1" kern="0" spc="300" dirty="0">
                <a:solidFill>
                  <a:srgbClr val="0B8A7B"/>
                </a:solidFill>
                <a:latin typeface="Calibri" pitchFamily="34" charset="0"/>
                <a:ea typeface="Calibri" pitchFamily="34" charset="-122"/>
                <a:cs typeface="Calibri" pitchFamily="34" charset="-120"/>
              </a:rPr>
              <a:t>PROOF — PYTHON ANALYSIS</a:t>
            </a:r>
            <a:endParaRPr lang="en-US" sz="1200" dirty="0"/>
          </a:p>
        </p:txBody>
      </p:sp>
      <p:sp>
        <p:nvSpPr>
          <p:cNvPr id="3" name="Text 1"/>
          <p:cNvSpPr txBox="1"/>
          <p:nvPr/>
        </p:nvSpPr>
        <p:spPr>
          <a:xfrm>
            <a:off x="640080" y="777240"/>
            <a:ext cx="9601200" cy="640080"/>
          </a:xfrm>
          <a:prstGeom prst="rect">
            <a:avLst/>
          </a:prstGeom>
          <a:noFill/>
          <a:ln/>
        </p:spPr>
        <p:txBody>
          <a:bodyPr wrap="square"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Trends, Products &amp; Customer Segments</a:t>
            </a:r>
            <a:endParaRPr lang="en-US" sz="2600" dirty="0"/>
          </a:p>
        </p:txBody>
      </p:sp>
      <p:sp>
        <p:nvSpPr>
          <p:cNvPr id="4" name="Shape 2"/>
          <p:cNvSpPr/>
          <p:nvPr/>
        </p:nvSpPr>
        <p:spPr>
          <a:xfrm>
            <a:off x="640080" y="1508760"/>
            <a:ext cx="10881360" cy="0"/>
          </a:xfrm>
          <a:prstGeom prst="line">
            <a:avLst/>
          </a:prstGeom>
          <a:noFill/>
          <a:ln w="12700">
            <a:solidFill>
              <a:srgbClr val="D3DEEB"/>
            </a:solidFill>
            <a:prstDash val="solid"/>
          </a:ln>
        </p:spPr>
        <p:txBody>
          <a:bodyPr/>
          <a:lstStyle/>
          <a:p>
            <a:endParaRPr lang="en-US"/>
          </a:p>
        </p:txBody>
      </p:sp>
      <p:sp>
        <p:nvSpPr>
          <p:cNvPr id="5" name="Shape 3"/>
          <p:cNvSpPr/>
          <p:nvPr/>
        </p:nvSpPr>
        <p:spPr>
          <a:xfrm>
            <a:off x="640080" y="1737360"/>
            <a:ext cx="5166360" cy="2148840"/>
          </a:xfrm>
          <a:prstGeom prst="rect">
            <a:avLst/>
          </a:prstGeom>
          <a:solidFill>
            <a:srgbClr val="FFFFFF"/>
          </a:solidFill>
          <a:ln w="12700">
            <a:solidFill>
              <a:srgbClr val="D3DEEB"/>
            </a:solidFill>
            <a:prstDash val="solid"/>
          </a:ln>
        </p:spPr>
        <p:txBody>
          <a:bodyPr/>
          <a:lstStyle/>
          <a:p>
            <a:endParaRPr lang="en-US"/>
          </a:p>
        </p:txBody>
      </p:sp>
      <p:pic>
        <p:nvPicPr>
          <p:cNvPr id="6" name="Image 0" descr="py_trend.png"/>
          <p:cNvPicPr>
            <a:picLocks noChangeAspect="1"/>
          </p:cNvPicPr>
          <p:nvPr/>
        </p:nvPicPr>
        <p:blipFill>
          <a:blip r:embed="rId3"/>
          <a:stretch>
            <a:fillRect/>
          </a:stretch>
        </p:blipFill>
        <p:spPr>
          <a:xfrm>
            <a:off x="1071551" y="1828800"/>
            <a:ext cx="4303419" cy="1737360"/>
          </a:xfrm>
          <a:prstGeom prst="rect">
            <a:avLst/>
          </a:prstGeom>
        </p:spPr>
      </p:pic>
      <p:sp>
        <p:nvSpPr>
          <p:cNvPr id="7" name="Text 4"/>
          <p:cNvSpPr txBox="1"/>
          <p:nvPr/>
        </p:nvSpPr>
        <p:spPr>
          <a:xfrm>
            <a:off x="777240" y="3593592"/>
            <a:ext cx="489204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Monthly sales trend</a:t>
            </a:r>
            <a:endParaRPr lang="en-US" sz="1100" dirty="0"/>
          </a:p>
        </p:txBody>
      </p:sp>
      <p:sp>
        <p:nvSpPr>
          <p:cNvPr id="8" name="Shape 5"/>
          <p:cNvSpPr/>
          <p:nvPr/>
        </p:nvSpPr>
        <p:spPr>
          <a:xfrm>
            <a:off x="6080760" y="1737360"/>
            <a:ext cx="5166360" cy="2148840"/>
          </a:xfrm>
          <a:prstGeom prst="rect">
            <a:avLst/>
          </a:prstGeom>
          <a:solidFill>
            <a:srgbClr val="FFFFFF"/>
          </a:solidFill>
          <a:ln w="12700">
            <a:solidFill>
              <a:srgbClr val="D3DEEB"/>
            </a:solidFill>
            <a:prstDash val="solid"/>
          </a:ln>
        </p:spPr>
        <p:txBody>
          <a:bodyPr/>
          <a:lstStyle/>
          <a:p>
            <a:endParaRPr lang="en-US"/>
          </a:p>
        </p:txBody>
      </p:sp>
      <p:pic>
        <p:nvPicPr>
          <p:cNvPr id="9" name="Image 1" descr="py_topprod.png"/>
          <p:cNvPicPr>
            <a:picLocks noChangeAspect="1"/>
          </p:cNvPicPr>
          <p:nvPr/>
        </p:nvPicPr>
        <p:blipFill>
          <a:blip r:embed="rId4"/>
          <a:stretch>
            <a:fillRect/>
          </a:stretch>
        </p:blipFill>
        <p:spPr>
          <a:xfrm>
            <a:off x="7193175" y="1828800"/>
            <a:ext cx="2941530" cy="1737360"/>
          </a:xfrm>
          <a:prstGeom prst="rect">
            <a:avLst/>
          </a:prstGeom>
        </p:spPr>
      </p:pic>
      <p:sp>
        <p:nvSpPr>
          <p:cNvPr id="10" name="Text 6"/>
          <p:cNvSpPr txBox="1"/>
          <p:nvPr/>
        </p:nvSpPr>
        <p:spPr>
          <a:xfrm>
            <a:off x="6217920" y="3593592"/>
            <a:ext cx="489204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Top 10 products by revenue</a:t>
            </a:r>
            <a:endParaRPr lang="en-US" sz="1100" dirty="0"/>
          </a:p>
        </p:txBody>
      </p:sp>
      <p:sp>
        <p:nvSpPr>
          <p:cNvPr id="11" name="Shape 7"/>
          <p:cNvSpPr/>
          <p:nvPr/>
        </p:nvSpPr>
        <p:spPr>
          <a:xfrm>
            <a:off x="640080" y="4069080"/>
            <a:ext cx="5166360" cy="2148840"/>
          </a:xfrm>
          <a:prstGeom prst="rect">
            <a:avLst/>
          </a:prstGeom>
          <a:solidFill>
            <a:srgbClr val="FFFFFF"/>
          </a:solidFill>
          <a:ln w="12700">
            <a:solidFill>
              <a:srgbClr val="D3DEEB"/>
            </a:solidFill>
            <a:prstDash val="solid"/>
          </a:ln>
        </p:spPr>
        <p:txBody>
          <a:bodyPr/>
          <a:lstStyle/>
          <a:p>
            <a:endParaRPr lang="en-US"/>
          </a:p>
        </p:txBody>
      </p:sp>
      <p:pic>
        <p:nvPicPr>
          <p:cNvPr id="12" name="Image 2" descr="py_pie.png"/>
          <p:cNvPicPr>
            <a:picLocks noChangeAspect="1"/>
          </p:cNvPicPr>
          <p:nvPr/>
        </p:nvPicPr>
        <p:blipFill>
          <a:blip r:embed="rId5"/>
          <a:stretch>
            <a:fillRect/>
          </a:stretch>
        </p:blipFill>
        <p:spPr>
          <a:xfrm>
            <a:off x="2328543" y="4160520"/>
            <a:ext cx="1789433" cy="1737360"/>
          </a:xfrm>
          <a:prstGeom prst="rect">
            <a:avLst/>
          </a:prstGeom>
        </p:spPr>
      </p:pic>
      <p:sp>
        <p:nvSpPr>
          <p:cNvPr id="13" name="Text 8"/>
          <p:cNvSpPr txBox="1"/>
          <p:nvPr/>
        </p:nvSpPr>
        <p:spPr>
          <a:xfrm>
            <a:off x="777240" y="5925312"/>
            <a:ext cx="489204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Sales share by category</a:t>
            </a:r>
            <a:endParaRPr lang="en-US" sz="1100" dirty="0"/>
          </a:p>
        </p:txBody>
      </p:sp>
      <p:sp>
        <p:nvSpPr>
          <p:cNvPr id="14" name="Shape 9"/>
          <p:cNvSpPr/>
          <p:nvPr/>
        </p:nvSpPr>
        <p:spPr>
          <a:xfrm>
            <a:off x="6080760" y="4069080"/>
            <a:ext cx="5166360" cy="2148840"/>
          </a:xfrm>
          <a:prstGeom prst="rect">
            <a:avLst/>
          </a:prstGeom>
          <a:solidFill>
            <a:srgbClr val="FFFFFF"/>
          </a:solidFill>
          <a:ln w="12700">
            <a:solidFill>
              <a:srgbClr val="D3DEEB"/>
            </a:solidFill>
            <a:prstDash val="solid"/>
          </a:ln>
        </p:spPr>
        <p:txBody>
          <a:bodyPr/>
          <a:lstStyle/>
          <a:p>
            <a:endParaRPr lang="en-US"/>
          </a:p>
        </p:txBody>
      </p:sp>
      <p:pic>
        <p:nvPicPr>
          <p:cNvPr id="15" name="Image 3" descr="py_segment.png"/>
          <p:cNvPicPr>
            <a:picLocks noChangeAspect="1"/>
          </p:cNvPicPr>
          <p:nvPr/>
        </p:nvPicPr>
        <p:blipFill>
          <a:blip r:embed="rId6"/>
          <a:stretch>
            <a:fillRect/>
          </a:stretch>
        </p:blipFill>
        <p:spPr>
          <a:xfrm>
            <a:off x="7439891" y="4160520"/>
            <a:ext cx="2448098" cy="1737360"/>
          </a:xfrm>
          <a:prstGeom prst="rect">
            <a:avLst/>
          </a:prstGeom>
        </p:spPr>
      </p:pic>
      <p:sp>
        <p:nvSpPr>
          <p:cNvPr id="16" name="Text 10"/>
          <p:cNvSpPr txBox="1"/>
          <p:nvPr/>
        </p:nvSpPr>
        <p:spPr>
          <a:xfrm>
            <a:off x="6217920" y="5925312"/>
            <a:ext cx="489204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Customer segmentation by spend</a:t>
            </a:r>
            <a:endParaRPr lang="en-US" sz="1100" dirty="0"/>
          </a:p>
        </p:txBody>
      </p:sp>
      <p:sp>
        <p:nvSpPr>
          <p:cNvPr id="17" name="Text 11"/>
          <p:cNvSpPr txBox="1"/>
          <p:nvPr/>
        </p:nvSpPr>
        <p:spPr>
          <a:xfrm>
            <a:off x="11247120" y="6355080"/>
            <a:ext cx="731520" cy="365760"/>
          </a:xfrm>
          <a:prstGeom prst="rect">
            <a:avLst/>
          </a:prstGeom>
          <a:noFill/>
          <a:ln/>
        </p:spPr>
        <p:txBody>
          <a:bodyPr wrap="square"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05</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5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SQL Server"/>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SQL Server</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0B8A7B"/>
          </a:solidFill>
          <a:ln>
            <a:noFill/>
          </a:ln>
        </p:spPr>
        <p:txBody>
          <a:bodyPr/>
          <a:lstStyle/>
          <a:p>
            <a:endParaRPr lang="en-US"/>
          </a:p>
        </p:txBody>
      </p:sp>
      <p:sp>
        <p:nvSpPr>
          <p:cNvPr id="12" name="Progress 5"/>
          <p:cNvSpPr/>
          <p:nvPr/>
        </p:nvSpPr>
        <p:spPr>
          <a:xfrm>
            <a:off x="1837944" y="5961888"/>
            <a:ext cx="182880" cy="182880"/>
          </a:xfrm>
          <a:prstGeom prst="ellipse">
            <a:avLst/>
          </a:prstGeom>
          <a:solidFill>
            <a:srgbClr val="14B8A6"/>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2E4468"/>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Built the Database in SQL Server</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I created the six tables directly in SQL Server with the correct data types from the start, after running into import errors (like tinyint overflowing on larger IDs) the first time around.</a:t>
            </a:r>
          </a:p>
        </p:txBody>
      </p:sp>
      <p:sp>
        <p:nvSpPr>
          <p:cNvPr id="19" name="Card 1"/>
          <p:cNvSpPr/>
          <p:nvPr/>
        </p:nvSpPr>
        <p:spPr>
          <a:xfrm>
            <a:off x="4480560" y="3154680"/>
            <a:ext cx="7223760" cy="82296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19272"/>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19272"/>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4008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Set a Primary Key on every table.</a:t>
            </a:r>
          </a:p>
        </p:txBody>
      </p:sp>
      <p:sp>
        <p:nvSpPr>
          <p:cNvPr id="23" name="Card 2"/>
          <p:cNvSpPr/>
          <p:nvPr/>
        </p:nvSpPr>
        <p:spPr>
          <a:xfrm>
            <a:off x="4480560" y="4142232"/>
            <a:ext cx="7223760" cy="109728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443984"/>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443984"/>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33672"/>
            <a:ext cx="5943600" cy="91440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Linked the tables with Foreign Keys: orders → customers, order_items → orders &amp; products, payments → orders, reviews → customers &amp; products.</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06</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6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SQL"/>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SQL</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0B8A7B"/>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0B8A7B"/>
          </a:solidFill>
          <a:ln>
            <a:noFill/>
          </a:ln>
        </p:spPr>
        <p:txBody>
          <a:bodyPr/>
          <a:lstStyle/>
          <a:p>
            <a:endParaRPr lang="en-US"/>
          </a:p>
        </p:txBody>
      </p:sp>
      <p:sp>
        <p:nvSpPr>
          <p:cNvPr id="13" name="Progress 6"/>
          <p:cNvSpPr/>
          <p:nvPr/>
        </p:nvSpPr>
        <p:spPr>
          <a:xfrm>
            <a:off x="2167128" y="5961888"/>
            <a:ext cx="182880" cy="182880"/>
          </a:xfrm>
          <a:prstGeom prst="ellipse">
            <a:avLst/>
          </a:prstGeom>
          <a:solidFill>
            <a:srgbClr val="14B8A6"/>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2E4468"/>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Wrote 10 Business Queries</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With the database in place, I wrote ten SQL queries that each answer a real business question, joining across the six tables.</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Top-selling products and categories by revenue, top customers by spending, the monthly sales trend.</a:t>
            </a:r>
          </a:p>
        </p:txBody>
      </p:sp>
      <p:sp>
        <p:nvSpPr>
          <p:cNvPr id="23" name="Card 2"/>
          <p:cNvSpPr/>
          <p:nvPr/>
        </p:nvSpPr>
        <p:spPr>
          <a:xfrm>
            <a:off x="4480560" y="416052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334256"/>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33425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Order status breakdown, average order value by city, most-used payment methods, and more.</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07</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7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Design"/>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Design</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0B8A7B"/>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0B8A7B"/>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0B8A7B"/>
          </a:solidFill>
          <a:ln>
            <a:noFill/>
          </a:ln>
        </p:spPr>
        <p:txBody>
          <a:bodyPr/>
          <a:lstStyle/>
          <a:p>
            <a:endParaRPr lang="en-US"/>
          </a:p>
        </p:txBody>
      </p:sp>
      <p:sp>
        <p:nvSpPr>
          <p:cNvPr id="14" name="Progress 7"/>
          <p:cNvSpPr/>
          <p:nvPr/>
        </p:nvSpPr>
        <p:spPr>
          <a:xfrm>
            <a:off x="2496312" y="5961888"/>
            <a:ext cx="182880" cy="182880"/>
          </a:xfrm>
          <a:prstGeom prst="ellipse">
            <a:avLst/>
          </a:prstGeom>
          <a:solidFill>
            <a:srgbClr val="14B8A6"/>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2E4468"/>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Drew the ERD by Hand</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To visualize the structure clearly, I drew the Entity-Relationship Diagram myself in draw.io, using Chen notation — rectangles for tables, ovals for attributes, diamonds for relationships.</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Marked each Primary Key and labeled every relationship as 1:1 or 1:M.</a:t>
            </a:r>
          </a:p>
        </p:txBody>
      </p:sp>
      <p:sp>
        <p:nvSpPr>
          <p:cNvPr id="23" name="Card 2"/>
          <p:cNvSpPr/>
          <p:nvPr/>
        </p:nvSpPr>
        <p:spPr>
          <a:xfrm>
            <a:off x="4480560" y="416052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334256"/>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33425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Color-coded the shapes by type so the diagram reads clearly at a glance.</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marL="0" indent="0">
              <a:buNone/>
            </a:pPr>
            <a:r>
              <a:rPr lang="en-US" sz="1200" b="1" kern="0" spc="300" dirty="0">
                <a:solidFill>
                  <a:srgbClr val="0B8A7B"/>
                </a:solidFill>
                <a:latin typeface="Calibri" pitchFamily="34" charset="0"/>
                <a:ea typeface="Calibri" pitchFamily="34" charset="-122"/>
                <a:cs typeface="Calibri" pitchFamily="34" charset="-120"/>
              </a:rPr>
              <a:t>PROOF — DATABASE DESIGN</a:t>
            </a:r>
            <a:endParaRPr lang="en-US" sz="1200" dirty="0"/>
          </a:p>
        </p:txBody>
      </p:sp>
      <p:sp>
        <p:nvSpPr>
          <p:cNvPr id="3" name="Text 1"/>
          <p:cNvSpPr txBox="1"/>
          <p:nvPr/>
        </p:nvSpPr>
        <p:spPr>
          <a:xfrm>
            <a:off x="640080" y="777240"/>
            <a:ext cx="9601200" cy="640080"/>
          </a:xfrm>
          <a:prstGeom prst="rect">
            <a:avLst/>
          </a:prstGeom>
          <a:noFill/>
          <a:ln/>
        </p:spPr>
        <p:txBody>
          <a:bodyPr wrap="square"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The Entity-Relationship Diagram</a:t>
            </a:r>
            <a:endParaRPr lang="en-US" sz="2600" dirty="0"/>
          </a:p>
        </p:txBody>
      </p:sp>
      <p:sp>
        <p:nvSpPr>
          <p:cNvPr id="4" name="Shape 2"/>
          <p:cNvSpPr/>
          <p:nvPr/>
        </p:nvSpPr>
        <p:spPr>
          <a:xfrm>
            <a:off x="640080" y="1508760"/>
            <a:ext cx="10881360" cy="0"/>
          </a:xfrm>
          <a:prstGeom prst="line">
            <a:avLst/>
          </a:prstGeom>
          <a:noFill/>
          <a:ln w="12700">
            <a:solidFill>
              <a:srgbClr val="D3DEEB"/>
            </a:solidFill>
            <a:prstDash val="solid"/>
          </a:ln>
        </p:spPr>
        <p:txBody>
          <a:bodyPr/>
          <a:lstStyle/>
          <a:p>
            <a:endParaRPr lang="en-US"/>
          </a:p>
        </p:txBody>
      </p:sp>
      <p:sp>
        <p:nvSpPr>
          <p:cNvPr id="5" name="Shape 3"/>
          <p:cNvSpPr/>
          <p:nvPr/>
        </p:nvSpPr>
        <p:spPr>
          <a:xfrm>
            <a:off x="2138641" y="1792224"/>
            <a:ext cx="7911670" cy="4553712"/>
          </a:xfrm>
          <a:prstGeom prst="rect">
            <a:avLst/>
          </a:prstGeom>
          <a:solidFill>
            <a:srgbClr val="FFFFFF"/>
          </a:solidFill>
          <a:ln w="12700">
            <a:solidFill>
              <a:srgbClr val="D3DEEB"/>
            </a:solidFill>
            <a:prstDash val="solid"/>
          </a:ln>
        </p:spPr>
        <p:txBody>
          <a:bodyPr/>
          <a:lstStyle/>
          <a:p>
            <a:endParaRPr lang="en-US"/>
          </a:p>
        </p:txBody>
      </p:sp>
      <p:pic>
        <p:nvPicPr>
          <p:cNvPr id="6" name="Image 0" descr="erd.png"/>
          <p:cNvPicPr>
            <a:picLocks noChangeAspect="1"/>
          </p:cNvPicPr>
          <p:nvPr/>
        </p:nvPicPr>
        <p:blipFill>
          <a:blip r:embed="rId3"/>
          <a:stretch>
            <a:fillRect/>
          </a:stretch>
        </p:blipFill>
        <p:spPr>
          <a:xfrm>
            <a:off x="2175217" y="1828800"/>
            <a:ext cx="7838518" cy="4480560"/>
          </a:xfrm>
          <a:prstGeom prst="rect">
            <a:avLst/>
          </a:prstGeom>
        </p:spPr>
      </p:pic>
      <p:sp>
        <p:nvSpPr>
          <p:cNvPr id="7" name="Text 4"/>
          <p:cNvSpPr txBox="1"/>
          <p:nvPr/>
        </p:nvSpPr>
        <p:spPr>
          <a:xfrm>
            <a:off x="11247120" y="6355080"/>
            <a:ext cx="731520" cy="365760"/>
          </a:xfrm>
          <a:prstGeom prst="rect">
            <a:avLst/>
          </a:prstGeom>
          <a:noFill/>
          <a:ln/>
        </p:spPr>
        <p:txBody>
          <a:bodyPr wrap="square"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08</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8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Excel"/>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Excel</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0B8A7B"/>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0B8A7B"/>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0B8A7B"/>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0B8A7B"/>
          </a:solidFill>
          <a:ln>
            <a:noFill/>
          </a:ln>
        </p:spPr>
        <p:txBody>
          <a:bodyPr/>
          <a:lstStyle/>
          <a:p>
            <a:endParaRPr lang="en-US"/>
          </a:p>
        </p:txBody>
      </p:sp>
      <p:sp>
        <p:nvSpPr>
          <p:cNvPr id="15" name="Progress 8"/>
          <p:cNvSpPr/>
          <p:nvPr/>
        </p:nvSpPr>
        <p:spPr>
          <a:xfrm>
            <a:off x="2825496" y="5961888"/>
            <a:ext cx="182880" cy="182880"/>
          </a:xfrm>
          <a:prstGeom prst="ellipse">
            <a:avLst/>
          </a:prstGeom>
          <a:solidFill>
            <a:srgbClr val="14B8A6"/>
          </a:solidFill>
          <a:ln>
            <a:noFill/>
          </a:ln>
        </p:spPr>
        <p:txBody>
          <a:bodyPr/>
          <a:lstStyle/>
          <a:p>
            <a:endParaRPr lang="en-US"/>
          </a:p>
        </p:txBody>
      </p:sp>
      <p:sp>
        <p:nvSpPr>
          <p:cNvPr id="16" name="Progress 9"/>
          <p:cNvSpPr/>
          <p:nvPr/>
        </p:nvSpPr>
        <p:spPr>
          <a:xfrm>
            <a:off x="3182112" y="5989320"/>
            <a:ext cx="128016" cy="128016"/>
          </a:xfrm>
          <a:prstGeom prst="ellipse">
            <a:avLst/>
          </a:prstGeom>
          <a:solidFill>
            <a:srgbClr val="2E4468"/>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Built the Excel Report</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I imported all six tables into Excel through Power Query, as separate queries loaded into their own sheets.</a:t>
            </a:r>
          </a:p>
        </p:txBody>
      </p:sp>
      <p:sp>
        <p:nvSpPr>
          <p:cNvPr id="19" name="Card 1"/>
          <p:cNvSpPr/>
          <p:nvPr/>
        </p:nvSpPr>
        <p:spPr>
          <a:xfrm>
            <a:off x="4480560" y="3154680"/>
            <a:ext cx="7223760" cy="109728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456432"/>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456432"/>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91440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Built 5 Pivot Tables with matching charts: sales by order status, top products, orders by city, payment method usage, and average price by category.</a:t>
            </a:r>
          </a:p>
        </p:txBody>
      </p:sp>
      <p:sp>
        <p:nvSpPr>
          <p:cNvPr id="23"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marL="0" indent="0">
              <a:buNone/>
            </a:pPr>
            <a:r>
              <a:rPr lang="en-US" sz="1200" b="1" kern="0" spc="300" dirty="0">
                <a:solidFill>
                  <a:srgbClr val="0B8A7B"/>
                </a:solidFill>
                <a:latin typeface="Calibri" pitchFamily="34" charset="0"/>
                <a:ea typeface="Calibri" pitchFamily="34" charset="-122"/>
                <a:cs typeface="Calibri" pitchFamily="34" charset="-120"/>
              </a:rPr>
              <a:t>PROOF — EXCEL REPORT</a:t>
            </a:r>
            <a:endParaRPr lang="en-US" sz="1200" dirty="0"/>
          </a:p>
        </p:txBody>
      </p:sp>
      <p:sp>
        <p:nvSpPr>
          <p:cNvPr id="3" name="Text 1"/>
          <p:cNvSpPr txBox="1"/>
          <p:nvPr/>
        </p:nvSpPr>
        <p:spPr>
          <a:xfrm>
            <a:off x="640080" y="777240"/>
            <a:ext cx="9601200" cy="640080"/>
          </a:xfrm>
          <a:prstGeom prst="rect">
            <a:avLst/>
          </a:prstGeom>
          <a:noFill/>
          <a:ln/>
        </p:spPr>
        <p:txBody>
          <a:bodyPr wrap="square"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Pivot Tables &amp; Charts</a:t>
            </a:r>
            <a:endParaRPr lang="en-US" sz="2600" dirty="0"/>
          </a:p>
        </p:txBody>
      </p:sp>
      <p:sp>
        <p:nvSpPr>
          <p:cNvPr id="4" name="Shape 2"/>
          <p:cNvSpPr/>
          <p:nvPr/>
        </p:nvSpPr>
        <p:spPr>
          <a:xfrm>
            <a:off x="640080" y="1508760"/>
            <a:ext cx="10881360" cy="0"/>
          </a:xfrm>
          <a:prstGeom prst="line">
            <a:avLst/>
          </a:prstGeom>
          <a:noFill/>
          <a:ln w="12700">
            <a:solidFill>
              <a:srgbClr val="D3DEEB"/>
            </a:solidFill>
            <a:prstDash val="solid"/>
          </a:ln>
        </p:spPr>
        <p:txBody>
          <a:bodyPr/>
          <a:lstStyle/>
          <a:p>
            <a:endParaRPr lang="en-US"/>
          </a:p>
        </p:txBody>
      </p:sp>
      <p:sp>
        <p:nvSpPr>
          <p:cNvPr id="5" name="Shape 3"/>
          <p:cNvSpPr/>
          <p:nvPr/>
        </p:nvSpPr>
        <p:spPr>
          <a:xfrm>
            <a:off x="640080" y="1737360"/>
            <a:ext cx="3429000" cy="2103120"/>
          </a:xfrm>
          <a:prstGeom prst="rect">
            <a:avLst/>
          </a:prstGeom>
          <a:solidFill>
            <a:srgbClr val="FFFFFF"/>
          </a:solidFill>
          <a:ln w="12700">
            <a:solidFill>
              <a:srgbClr val="D3DEEB"/>
            </a:solidFill>
            <a:prstDash val="solid"/>
          </a:ln>
        </p:spPr>
        <p:txBody>
          <a:bodyPr/>
          <a:lstStyle/>
          <a:p>
            <a:endParaRPr lang="en-US"/>
          </a:p>
        </p:txBody>
      </p:sp>
      <p:pic>
        <p:nvPicPr>
          <p:cNvPr id="6" name="Image 0" descr="excel_status.png"/>
          <p:cNvPicPr>
            <a:picLocks noChangeAspect="1"/>
          </p:cNvPicPr>
          <p:nvPr/>
        </p:nvPicPr>
        <p:blipFill>
          <a:blip r:embed="rId3"/>
          <a:stretch>
            <a:fillRect/>
          </a:stretch>
        </p:blipFill>
        <p:spPr>
          <a:xfrm>
            <a:off x="731520" y="2213403"/>
            <a:ext cx="3246120" cy="1151035"/>
          </a:xfrm>
          <a:prstGeom prst="rect">
            <a:avLst/>
          </a:prstGeom>
        </p:spPr>
      </p:pic>
      <p:sp>
        <p:nvSpPr>
          <p:cNvPr id="7" name="Shape 4"/>
          <p:cNvSpPr/>
          <p:nvPr/>
        </p:nvSpPr>
        <p:spPr>
          <a:xfrm>
            <a:off x="4297680" y="1737360"/>
            <a:ext cx="3429000" cy="2103120"/>
          </a:xfrm>
          <a:prstGeom prst="rect">
            <a:avLst/>
          </a:prstGeom>
          <a:solidFill>
            <a:srgbClr val="FFFFFF"/>
          </a:solidFill>
          <a:ln w="12700">
            <a:solidFill>
              <a:srgbClr val="D3DEEB"/>
            </a:solidFill>
            <a:prstDash val="solid"/>
          </a:ln>
        </p:spPr>
        <p:txBody>
          <a:bodyPr/>
          <a:lstStyle/>
          <a:p>
            <a:endParaRPr lang="en-US"/>
          </a:p>
        </p:txBody>
      </p:sp>
      <p:pic>
        <p:nvPicPr>
          <p:cNvPr id="8" name="Image 1" descr="excel_topprod.png"/>
          <p:cNvPicPr>
            <a:picLocks noChangeAspect="1"/>
          </p:cNvPicPr>
          <p:nvPr/>
        </p:nvPicPr>
        <p:blipFill>
          <a:blip r:embed="rId4"/>
          <a:stretch>
            <a:fillRect/>
          </a:stretch>
        </p:blipFill>
        <p:spPr>
          <a:xfrm>
            <a:off x="4389120" y="2034339"/>
            <a:ext cx="3246120" cy="1509161"/>
          </a:xfrm>
          <a:prstGeom prst="rect">
            <a:avLst/>
          </a:prstGeom>
        </p:spPr>
      </p:pic>
      <p:sp>
        <p:nvSpPr>
          <p:cNvPr id="9" name="Shape 5"/>
          <p:cNvSpPr/>
          <p:nvPr/>
        </p:nvSpPr>
        <p:spPr>
          <a:xfrm>
            <a:off x="7955280" y="1737360"/>
            <a:ext cx="3429000" cy="2103120"/>
          </a:xfrm>
          <a:prstGeom prst="rect">
            <a:avLst/>
          </a:prstGeom>
          <a:solidFill>
            <a:srgbClr val="FFFFFF"/>
          </a:solidFill>
          <a:ln w="12700">
            <a:solidFill>
              <a:srgbClr val="D3DEEB"/>
            </a:solidFill>
            <a:prstDash val="solid"/>
          </a:ln>
        </p:spPr>
        <p:txBody>
          <a:bodyPr/>
          <a:lstStyle/>
          <a:p>
            <a:endParaRPr lang="en-US"/>
          </a:p>
        </p:txBody>
      </p:sp>
      <p:pic>
        <p:nvPicPr>
          <p:cNvPr id="10" name="Image 2" descr="excel_city.png"/>
          <p:cNvPicPr>
            <a:picLocks noChangeAspect="1"/>
          </p:cNvPicPr>
          <p:nvPr/>
        </p:nvPicPr>
        <p:blipFill>
          <a:blip r:embed="rId5"/>
          <a:stretch>
            <a:fillRect/>
          </a:stretch>
        </p:blipFill>
        <p:spPr>
          <a:xfrm>
            <a:off x="8046720" y="2095378"/>
            <a:ext cx="3246120" cy="1387083"/>
          </a:xfrm>
          <a:prstGeom prst="rect">
            <a:avLst/>
          </a:prstGeom>
        </p:spPr>
      </p:pic>
      <p:sp>
        <p:nvSpPr>
          <p:cNvPr id="11" name="Shape 6"/>
          <p:cNvSpPr/>
          <p:nvPr/>
        </p:nvSpPr>
        <p:spPr>
          <a:xfrm>
            <a:off x="640080" y="4023360"/>
            <a:ext cx="3429000" cy="2103120"/>
          </a:xfrm>
          <a:prstGeom prst="rect">
            <a:avLst/>
          </a:prstGeom>
          <a:solidFill>
            <a:srgbClr val="FFFFFF"/>
          </a:solidFill>
          <a:ln w="12700">
            <a:solidFill>
              <a:srgbClr val="D3DEEB"/>
            </a:solidFill>
            <a:prstDash val="solid"/>
          </a:ln>
        </p:spPr>
        <p:txBody>
          <a:bodyPr/>
          <a:lstStyle/>
          <a:p>
            <a:endParaRPr lang="en-US"/>
          </a:p>
        </p:txBody>
      </p:sp>
      <p:pic>
        <p:nvPicPr>
          <p:cNvPr id="12" name="Image 3" descr="excel_payment.png"/>
          <p:cNvPicPr>
            <a:picLocks noChangeAspect="1"/>
          </p:cNvPicPr>
          <p:nvPr/>
        </p:nvPicPr>
        <p:blipFill>
          <a:blip r:embed="rId6"/>
          <a:stretch>
            <a:fillRect/>
          </a:stretch>
        </p:blipFill>
        <p:spPr>
          <a:xfrm>
            <a:off x="731520" y="4410820"/>
            <a:ext cx="3246120" cy="1328200"/>
          </a:xfrm>
          <a:prstGeom prst="rect">
            <a:avLst/>
          </a:prstGeom>
        </p:spPr>
      </p:pic>
      <p:sp>
        <p:nvSpPr>
          <p:cNvPr id="13" name="Shape 7"/>
          <p:cNvSpPr/>
          <p:nvPr/>
        </p:nvSpPr>
        <p:spPr>
          <a:xfrm>
            <a:off x="4297680" y="4023360"/>
            <a:ext cx="3429000" cy="2103120"/>
          </a:xfrm>
          <a:prstGeom prst="rect">
            <a:avLst/>
          </a:prstGeom>
          <a:solidFill>
            <a:srgbClr val="FFFFFF"/>
          </a:solidFill>
          <a:ln w="12700">
            <a:solidFill>
              <a:srgbClr val="D3DEEB"/>
            </a:solidFill>
            <a:prstDash val="solid"/>
          </a:ln>
        </p:spPr>
        <p:txBody>
          <a:bodyPr/>
          <a:lstStyle/>
          <a:p>
            <a:endParaRPr lang="en-US"/>
          </a:p>
        </p:txBody>
      </p:sp>
      <p:pic>
        <p:nvPicPr>
          <p:cNvPr id="14" name="Image 4" descr="excel_avgprice.png"/>
          <p:cNvPicPr>
            <a:picLocks noChangeAspect="1"/>
          </p:cNvPicPr>
          <p:nvPr/>
        </p:nvPicPr>
        <p:blipFill>
          <a:blip r:embed="rId7"/>
          <a:stretch>
            <a:fillRect/>
          </a:stretch>
        </p:blipFill>
        <p:spPr>
          <a:xfrm>
            <a:off x="4389120" y="4412688"/>
            <a:ext cx="3246120" cy="1324464"/>
          </a:xfrm>
          <a:prstGeom prst="rect">
            <a:avLst/>
          </a:prstGeom>
        </p:spPr>
      </p:pic>
      <p:sp>
        <p:nvSpPr>
          <p:cNvPr id="15" name="Text 8"/>
          <p:cNvSpPr txBox="1"/>
          <p:nvPr/>
        </p:nvSpPr>
        <p:spPr>
          <a:xfrm>
            <a:off x="11247120" y="6355080"/>
            <a:ext cx="731520" cy="365760"/>
          </a:xfrm>
          <a:prstGeom prst="rect">
            <a:avLst/>
          </a:prstGeom>
          <a:noFill/>
          <a:ln/>
        </p:spPr>
        <p:txBody>
          <a:bodyPr wrap="square"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B"/>
        </a:solidFill>
        <a:effectLst/>
      </p:bgPr>
    </p:bg>
    <p:spTree>
      <p:nvGrpSpPr>
        <p:cNvPr id="1" name=""/>
        <p:cNvGrpSpPr/>
        <p:nvPr/>
      </p:nvGrpSpPr>
      <p:grpSpPr>
        <a:xfrm>
          <a:off x="0" y="0"/>
          <a:ext cx="0" cy="0"/>
          <a:chOff x="0" y="0"/>
          <a:chExt cx="0" cy="0"/>
        </a:xfrm>
      </p:grpSpPr>
      <p:sp>
        <p:nvSpPr>
          <p:cNvPr id="2" name="Left panel"/>
          <p:cNvSpPr/>
          <p:nvPr/>
        </p:nvSpPr>
        <p:spPr>
          <a:xfrm>
            <a:off x="0" y="0"/>
            <a:ext cx="3931920" cy="6858000"/>
          </a:xfrm>
          <a:prstGeom prst="rect">
            <a:avLst/>
          </a:prstGeom>
          <a:solidFill>
            <a:srgbClr val="0B1F3A"/>
          </a:solidFill>
          <a:ln>
            <a:noFill/>
          </a:ln>
        </p:spPr>
        <p:txBody>
          <a:bodyPr/>
          <a:lstStyle/>
          <a:p>
            <a:endParaRPr lang="en-US"/>
          </a:p>
        </p:txBody>
      </p:sp>
      <p:sp>
        <p:nvSpPr>
          <p:cNvPr id="3" name="Step number"/>
          <p:cNvSpPr txBox="1"/>
          <p:nvPr/>
        </p:nvSpPr>
        <p:spPr>
          <a:xfrm>
            <a:off x="548640" y="640080"/>
            <a:ext cx="3017520" cy="1371600"/>
          </a:xfrm>
          <a:prstGeom prst="rect">
            <a:avLst/>
          </a:prstGeom>
          <a:noFill/>
        </p:spPr>
        <p:txBody>
          <a:bodyPr wrap="square" lIns="0" tIns="0" rIns="0" bIns="0" rtlCol="0" anchor="ctr">
            <a:noAutofit/>
          </a:bodyPr>
          <a:lstStyle/>
          <a:p>
            <a:pPr marL="0" indent="0" algn="l">
              <a:buNone/>
            </a:pPr>
            <a:r>
              <a:rPr lang="en-US" sz="9600" b="1" dirty="0">
                <a:solidFill>
                  <a:srgbClr val="14B8A6"/>
                </a:solidFill>
                <a:latin typeface="Calibri"/>
                <a:ea typeface="Calibri"/>
                <a:cs typeface="Calibri"/>
              </a:rPr>
              <a:t>09</a:t>
            </a:r>
          </a:p>
        </p:txBody>
      </p:sp>
      <p:sp>
        <p:nvSpPr>
          <p:cNvPr id="4" name="Step label"/>
          <p:cNvSpPr txBox="1"/>
          <p:nvPr/>
        </p:nvSpPr>
        <p:spPr>
          <a:xfrm>
            <a:off x="548640" y="2103120"/>
            <a:ext cx="3017520" cy="365760"/>
          </a:xfrm>
          <a:prstGeom prst="rect">
            <a:avLst/>
          </a:prstGeom>
          <a:noFill/>
        </p:spPr>
        <p:txBody>
          <a:bodyPr wrap="square" lIns="0" tIns="0" rIns="0" bIns="0" rtlCol="0" anchor="ctr">
            <a:noAutofit/>
          </a:bodyPr>
          <a:lstStyle/>
          <a:p>
            <a:pPr marL="0" indent="0" algn="l">
              <a:buNone/>
            </a:pPr>
            <a:r>
              <a:rPr lang="en-US" sz="1400" b="1" spc="300" dirty="0">
                <a:solidFill>
                  <a:srgbClr val="7FE0D2"/>
                </a:solidFill>
                <a:latin typeface="Calibri"/>
                <a:ea typeface="Calibri"/>
                <a:cs typeface="Calibri"/>
              </a:rPr>
              <a:t>STEP 9 OF 9</a:t>
            </a:r>
          </a:p>
        </p:txBody>
      </p:sp>
      <p:sp>
        <p:nvSpPr>
          <p:cNvPr id="5" name="Icon circle"/>
          <p:cNvSpPr/>
          <p:nvPr/>
        </p:nvSpPr>
        <p:spPr>
          <a:xfrm>
            <a:off x="548640" y="2743200"/>
            <a:ext cx="1188720" cy="1188720"/>
          </a:xfrm>
          <a:prstGeom prst="ellipse">
            <a:avLst/>
          </a:prstGeom>
          <a:solidFill>
            <a:srgbClr val="14B8A6"/>
          </a:solidFill>
          <a:ln>
            <a:noFill/>
          </a:ln>
        </p:spPr>
        <p:txBody>
          <a:bodyPr/>
          <a:lstStyle/>
          <a:p>
            <a:endParaRPr lang="en-US"/>
          </a:p>
        </p:txBody>
      </p:sp>
      <p:pic>
        <p:nvPicPr>
          <p:cNvPr id="6" name="Tool icon" descr="Power BI"/>
          <p:cNvPicPr>
            <a:picLocks noChangeAspect="1"/>
          </p:cNvPicPr>
          <p:nvPr/>
        </p:nvPicPr>
        <p:blipFill>
          <a:blip r:embed="rId3"/>
          <a:stretch>
            <a:fillRect/>
          </a:stretch>
        </p:blipFill>
        <p:spPr>
          <a:xfrm>
            <a:off x="868680" y="3063240"/>
            <a:ext cx="548640" cy="548640"/>
          </a:xfrm>
          <a:prstGeom prst="rect">
            <a:avLst/>
          </a:prstGeom>
        </p:spPr>
      </p:pic>
      <p:sp>
        <p:nvSpPr>
          <p:cNvPr id="7" name="Tool name"/>
          <p:cNvSpPr txBox="1"/>
          <p:nvPr/>
        </p:nvSpPr>
        <p:spPr>
          <a:xfrm>
            <a:off x="548640" y="4160520"/>
            <a:ext cx="3108960" cy="548640"/>
          </a:xfrm>
          <a:prstGeom prst="rect">
            <a:avLst/>
          </a:prstGeom>
          <a:noFill/>
        </p:spPr>
        <p:txBody>
          <a:bodyPr wrap="square" lIns="0" tIns="0" rIns="0" bIns="0" rtlCol="0" anchor="t">
            <a:noAutofit/>
          </a:bodyPr>
          <a:lstStyle/>
          <a:p>
            <a:pPr marL="0" indent="0" algn="l">
              <a:buNone/>
            </a:pPr>
            <a:r>
              <a:rPr lang="en-US" sz="2000" b="1" dirty="0">
                <a:solidFill>
                  <a:srgbClr val="FFFFFF"/>
                </a:solidFill>
                <a:latin typeface="Calibri"/>
                <a:ea typeface="Calibri"/>
                <a:cs typeface="Calibri"/>
              </a:rPr>
              <a:t>Power BI</a:t>
            </a:r>
          </a:p>
        </p:txBody>
      </p:sp>
      <p:sp>
        <p:nvSpPr>
          <p:cNvPr id="8" name="Progress 1"/>
          <p:cNvSpPr/>
          <p:nvPr/>
        </p:nvSpPr>
        <p:spPr>
          <a:xfrm>
            <a:off x="548640" y="5989320"/>
            <a:ext cx="128016" cy="128016"/>
          </a:xfrm>
          <a:prstGeom prst="ellipse">
            <a:avLst/>
          </a:prstGeom>
          <a:solidFill>
            <a:srgbClr val="0B8A7B"/>
          </a:solidFill>
          <a:ln>
            <a:noFill/>
          </a:ln>
        </p:spPr>
        <p:txBody>
          <a:bodyPr/>
          <a:lstStyle/>
          <a:p>
            <a:endParaRPr lang="en-US"/>
          </a:p>
        </p:txBody>
      </p:sp>
      <p:sp>
        <p:nvSpPr>
          <p:cNvPr id="9" name="Progress 2"/>
          <p:cNvSpPr/>
          <p:nvPr/>
        </p:nvSpPr>
        <p:spPr>
          <a:xfrm>
            <a:off x="877824" y="5989320"/>
            <a:ext cx="128016" cy="128016"/>
          </a:xfrm>
          <a:prstGeom prst="ellipse">
            <a:avLst/>
          </a:prstGeom>
          <a:solidFill>
            <a:srgbClr val="0B8A7B"/>
          </a:solidFill>
          <a:ln>
            <a:noFill/>
          </a:ln>
        </p:spPr>
        <p:txBody>
          <a:bodyPr/>
          <a:lstStyle/>
          <a:p>
            <a:endParaRPr lang="en-US"/>
          </a:p>
        </p:txBody>
      </p:sp>
      <p:sp>
        <p:nvSpPr>
          <p:cNvPr id="10" name="Progress 3"/>
          <p:cNvSpPr/>
          <p:nvPr/>
        </p:nvSpPr>
        <p:spPr>
          <a:xfrm>
            <a:off x="1207008" y="5989320"/>
            <a:ext cx="128016" cy="128016"/>
          </a:xfrm>
          <a:prstGeom prst="ellipse">
            <a:avLst/>
          </a:prstGeom>
          <a:solidFill>
            <a:srgbClr val="0B8A7B"/>
          </a:solidFill>
          <a:ln>
            <a:noFill/>
          </a:ln>
        </p:spPr>
        <p:txBody>
          <a:bodyPr/>
          <a:lstStyle/>
          <a:p>
            <a:endParaRPr lang="en-US"/>
          </a:p>
        </p:txBody>
      </p:sp>
      <p:sp>
        <p:nvSpPr>
          <p:cNvPr id="11" name="Progress 4"/>
          <p:cNvSpPr/>
          <p:nvPr/>
        </p:nvSpPr>
        <p:spPr>
          <a:xfrm>
            <a:off x="1536192" y="5989320"/>
            <a:ext cx="128016" cy="128016"/>
          </a:xfrm>
          <a:prstGeom prst="ellipse">
            <a:avLst/>
          </a:prstGeom>
          <a:solidFill>
            <a:srgbClr val="0B8A7B"/>
          </a:solidFill>
          <a:ln>
            <a:noFill/>
          </a:ln>
        </p:spPr>
        <p:txBody>
          <a:bodyPr/>
          <a:lstStyle/>
          <a:p>
            <a:endParaRPr lang="en-US"/>
          </a:p>
        </p:txBody>
      </p:sp>
      <p:sp>
        <p:nvSpPr>
          <p:cNvPr id="12" name="Progress 5"/>
          <p:cNvSpPr/>
          <p:nvPr/>
        </p:nvSpPr>
        <p:spPr>
          <a:xfrm>
            <a:off x="1865376" y="5989320"/>
            <a:ext cx="128016" cy="128016"/>
          </a:xfrm>
          <a:prstGeom prst="ellipse">
            <a:avLst/>
          </a:prstGeom>
          <a:solidFill>
            <a:srgbClr val="0B8A7B"/>
          </a:solidFill>
          <a:ln>
            <a:noFill/>
          </a:ln>
        </p:spPr>
        <p:txBody>
          <a:bodyPr/>
          <a:lstStyle/>
          <a:p>
            <a:endParaRPr lang="en-US"/>
          </a:p>
        </p:txBody>
      </p:sp>
      <p:sp>
        <p:nvSpPr>
          <p:cNvPr id="13" name="Progress 6"/>
          <p:cNvSpPr/>
          <p:nvPr/>
        </p:nvSpPr>
        <p:spPr>
          <a:xfrm>
            <a:off x="2194560" y="5989320"/>
            <a:ext cx="128016" cy="128016"/>
          </a:xfrm>
          <a:prstGeom prst="ellipse">
            <a:avLst/>
          </a:prstGeom>
          <a:solidFill>
            <a:srgbClr val="0B8A7B"/>
          </a:solidFill>
          <a:ln>
            <a:noFill/>
          </a:ln>
        </p:spPr>
        <p:txBody>
          <a:bodyPr/>
          <a:lstStyle/>
          <a:p>
            <a:endParaRPr lang="en-US"/>
          </a:p>
        </p:txBody>
      </p:sp>
      <p:sp>
        <p:nvSpPr>
          <p:cNvPr id="14" name="Progress 7"/>
          <p:cNvSpPr/>
          <p:nvPr/>
        </p:nvSpPr>
        <p:spPr>
          <a:xfrm>
            <a:off x="2523744" y="5989320"/>
            <a:ext cx="128016" cy="128016"/>
          </a:xfrm>
          <a:prstGeom prst="ellipse">
            <a:avLst/>
          </a:prstGeom>
          <a:solidFill>
            <a:srgbClr val="0B8A7B"/>
          </a:solidFill>
          <a:ln>
            <a:noFill/>
          </a:ln>
        </p:spPr>
        <p:txBody>
          <a:bodyPr/>
          <a:lstStyle/>
          <a:p>
            <a:endParaRPr lang="en-US"/>
          </a:p>
        </p:txBody>
      </p:sp>
      <p:sp>
        <p:nvSpPr>
          <p:cNvPr id="15" name="Progress 8"/>
          <p:cNvSpPr/>
          <p:nvPr/>
        </p:nvSpPr>
        <p:spPr>
          <a:xfrm>
            <a:off x="2852928" y="5989320"/>
            <a:ext cx="128016" cy="128016"/>
          </a:xfrm>
          <a:prstGeom prst="ellipse">
            <a:avLst/>
          </a:prstGeom>
          <a:solidFill>
            <a:srgbClr val="0B8A7B"/>
          </a:solidFill>
          <a:ln>
            <a:noFill/>
          </a:ln>
        </p:spPr>
        <p:txBody>
          <a:bodyPr/>
          <a:lstStyle/>
          <a:p>
            <a:endParaRPr lang="en-US"/>
          </a:p>
        </p:txBody>
      </p:sp>
      <p:sp>
        <p:nvSpPr>
          <p:cNvPr id="16" name="Progress 9"/>
          <p:cNvSpPr/>
          <p:nvPr/>
        </p:nvSpPr>
        <p:spPr>
          <a:xfrm>
            <a:off x="3154680" y="5961888"/>
            <a:ext cx="182880" cy="182880"/>
          </a:xfrm>
          <a:prstGeom prst="ellipse">
            <a:avLst/>
          </a:prstGeom>
          <a:solidFill>
            <a:srgbClr val="14B8A6"/>
          </a:solidFill>
          <a:ln>
            <a:noFill/>
          </a:ln>
        </p:spPr>
        <p:txBody>
          <a:bodyPr/>
          <a:lstStyle/>
          <a:p>
            <a:endParaRPr lang="en-US"/>
          </a:p>
        </p:txBody>
      </p:sp>
      <p:sp>
        <p:nvSpPr>
          <p:cNvPr id="17" name="Title"/>
          <p:cNvSpPr txBox="1"/>
          <p:nvPr/>
        </p:nvSpPr>
        <p:spPr>
          <a:xfrm>
            <a:off x="4480560" y="502920"/>
            <a:ext cx="7223760" cy="1234440"/>
          </a:xfrm>
          <a:prstGeom prst="rect">
            <a:avLst/>
          </a:prstGeom>
          <a:noFill/>
        </p:spPr>
        <p:txBody>
          <a:bodyPr wrap="square" lIns="0" tIns="0" rIns="0" bIns="0" rtlCol="0" anchor="b">
            <a:noAutofit/>
          </a:bodyPr>
          <a:lstStyle/>
          <a:p>
            <a:pPr marL="0" indent="0" algn="l">
              <a:lnSpc>
                <a:spcPct val="95000"/>
              </a:lnSpc>
              <a:buNone/>
            </a:pPr>
            <a:r>
              <a:rPr lang="en-US" sz="3200" b="1" dirty="0">
                <a:solidFill>
                  <a:srgbClr val="0B1F3A"/>
                </a:solidFill>
                <a:latin typeface="Calibri"/>
                <a:ea typeface="Calibri"/>
                <a:cs typeface="Calibri"/>
              </a:rPr>
              <a:t>I Built an Interactive Power BI Dashboard</a:t>
            </a:r>
          </a:p>
        </p:txBody>
      </p:sp>
      <p:sp>
        <p:nvSpPr>
          <p:cNvPr id="18" name="Intro"/>
          <p:cNvSpPr txBox="1"/>
          <p:nvPr/>
        </p:nvSpPr>
        <p:spPr>
          <a:xfrm>
            <a:off x="4480560" y="1874520"/>
            <a:ext cx="7223760" cy="1234440"/>
          </a:xfrm>
          <a:prstGeom prst="rect">
            <a:avLst/>
          </a:prstGeom>
          <a:noFill/>
        </p:spPr>
        <p:txBody>
          <a:bodyPr wrap="square" lIns="0" tIns="0" rIns="0" bIns="0" rtlCol="0" anchor="t">
            <a:noAutofit/>
          </a:bodyPr>
          <a:lstStyle/>
          <a:p>
            <a:pPr marL="0" indent="0" algn="l">
              <a:lnSpc>
                <a:spcPct val="115000"/>
              </a:lnSpc>
              <a:buNone/>
            </a:pPr>
            <a:r>
              <a:rPr lang="en-US" sz="1800" dirty="0">
                <a:solidFill>
                  <a:srgbClr val="5B6B82"/>
                </a:solidFill>
                <a:latin typeface="Calibri"/>
                <a:ea typeface="Calibri"/>
                <a:cs typeface="Calibri"/>
              </a:rPr>
              <a:t>Finally, I connected Power BI directly to the SQL Server database and built a 3-page dashboard rather than a single static page.</a:t>
            </a:r>
          </a:p>
        </p:txBody>
      </p:sp>
      <p:sp>
        <p:nvSpPr>
          <p:cNvPr id="19" name="Card 1"/>
          <p:cNvSpPr/>
          <p:nvPr/>
        </p:nvSpPr>
        <p:spPr>
          <a:xfrm>
            <a:off x="4480560" y="3154680"/>
            <a:ext cx="7223760" cy="841248"/>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0" name="Badge 1"/>
          <p:cNvSpPr/>
          <p:nvPr/>
        </p:nvSpPr>
        <p:spPr>
          <a:xfrm>
            <a:off x="4754880" y="3328416"/>
            <a:ext cx="493776" cy="493776"/>
          </a:xfrm>
          <a:prstGeom prst="ellipse">
            <a:avLst/>
          </a:prstGeom>
          <a:solidFill>
            <a:srgbClr val="0B8A7B"/>
          </a:solidFill>
          <a:ln>
            <a:noFill/>
          </a:ln>
        </p:spPr>
        <p:txBody>
          <a:bodyPr/>
          <a:lstStyle/>
          <a:p>
            <a:endParaRPr lang="en-US"/>
          </a:p>
        </p:txBody>
      </p:sp>
      <p:sp>
        <p:nvSpPr>
          <p:cNvPr id="21" name="Badge num 1"/>
          <p:cNvSpPr txBox="1"/>
          <p:nvPr/>
        </p:nvSpPr>
        <p:spPr>
          <a:xfrm>
            <a:off x="4754880" y="3328416"/>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1</a:t>
            </a:r>
          </a:p>
        </p:txBody>
      </p:sp>
      <p:sp>
        <p:nvSpPr>
          <p:cNvPr id="22" name="Card text 1"/>
          <p:cNvSpPr txBox="1"/>
          <p:nvPr/>
        </p:nvSpPr>
        <p:spPr>
          <a:xfrm>
            <a:off x="5486400" y="3246120"/>
            <a:ext cx="5943600" cy="658368"/>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Wrote DAX measures for every KPI card, instead of relying on default aggregations.</a:t>
            </a:r>
          </a:p>
        </p:txBody>
      </p:sp>
      <p:sp>
        <p:nvSpPr>
          <p:cNvPr id="23" name="Card 2"/>
          <p:cNvSpPr/>
          <p:nvPr/>
        </p:nvSpPr>
        <p:spPr>
          <a:xfrm>
            <a:off x="4480560" y="4160520"/>
            <a:ext cx="7223760" cy="1097280"/>
          </a:xfrm>
          <a:prstGeom prst="roundRect">
            <a:avLst>
              <a:gd name="adj" fmla="val 12000"/>
            </a:avLst>
          </a:prstGeom>
          <a:solidFill>
            <a:srgbClr val="FFFFFF"/>
          </a:solidFill>
          <a:ln>
            <a:noFill/>
          </a:ln>
          <a:effectLst>
            <a:outerShdw blurRad="190500" dist="38100" dir="5400000" algn="t" rotWithShape="0">
              <a:srgbClr val="0B1F3A">
                <a:alpha val="14000"/>
              </a:srgbClr>
            </a:outerShdw>
          </a:effectLst>
        </p:spPr>
        <p:txBody>
          <a:bodyPr/>
          <a:lstStyle/>
          <a:p>
            <a:endParaRPr lang="en-US"/>
          </a:p>
        </p:txBody>
      </p:sp>
      <p:sp>
        <p:nvSpPr>
          <p:cNvPr id="24" name="Badge 2"/>
          <p:cNvSpPr/>
          <p:nvPr/>
        </p:nvSpPr>
        <p:spPr>
          <a:xfrm>
            <a:off x="4754880" y="4462272"/>
            <a:ext cx="493776" cy="493776"/>
          </a:xfrm>
          <a:prstGeom prst="ellipse">
            <a:avLst/>
          </a:prstGeom>
          <a:solidFill>
            <a:srgbClr val="0B8A7B"/>
          </a:solidFill>
          <a:ln>
            <a:noFill/>
          </a:ln>
        </p:spPr>
        <p:txBody>
          <a:bodyPr/>
          <a:lstStyle/>
          <a:p>
            <a:endParaRPr lang="en-US"/>
          </a:p>
        </p:txBody>
      </p:sp>
      <p:sp>
        <p:nvSpPr>
          <p:cNvPr id="25" name="Badge num 2"/>
          <p:cNvSpPr txBox="1"/>
          <p:nvPr/>
        </p:nvSpPr>
        <p:spPr>
          <a:xfrm>
            <a:off x="4754880" y="4462272"/>
            <a:ext cx="493776" cy="493776"/>
          </a:xfrm>
          <a:prstGeom prst="rect">
            <a:avLst/>
          </a:prstGeom>
          <a:noFill/>
        </p:spPr>
        <p:txBody>
          <a:bodyPr wrap="square" lIns="0" tIns="0" rIns="0" bIns="0" rtlCol="0" anchor="ctr">
            <a:noAutofit/>
          </a:bodyPr>
          <a:lstStyle/>
          <a:p>
            <a:pPr marL="0" indent="0" algn="ctr">
              <a:buNone/>
            </a:pPr>
            <a:r>
              <a:rPr lang="en-US" sz="1800" b="1" dirty="0">
                <a:solidFill>
                  <a:srgbClr val="FFFFFF"/>
                </a:solidFill>
                <a:latin typeface="Calibri"/>
                <a:ea typeface="Calibri"/>
                <a:cs typeface="Calibri"/>
              </a:rPr>
              <a:t>2</a:t>
            </a:r>
          </a:p>
        </p:txBody>
      </p:sp>
      <p:sp>
        <p:nvSpPr>
          <p:cNvPr id="26" name="Card text 2"/>
          <p:cNvSpPr txBox="1"/>
          <p:nvPr/>
        </p:nvSpPr>
        <p:spPr>
          <a:xfrm>
            <a:off x="5486400" y="4251960"/>
            <a:ext cx="5943600" cy="914400"/>
          </a:xfrm>
          <a:prstGeom prst="rect">
            <a:avLst/>
          </a:prstGeom>
          <a:noFill/>
        </p:spPr>
        <p:txBody>
          <a:bodyPr wrap="square" lIns="0" tIns="0" rIns="0" bIns="0" rtlCol="0" anchor="ctr">
            <a:noAutofit/>
          </a:bodyPr>
          <a:lstStyle/>
          <a:p>
            <a:pPr marL="0" indent="0" algn="l">
              <a:lnSpc>
                <a:spcPct val="105000"/>
              </a:lnSpc>
              <a:buNone/>
            </a:pPr>
            <a:r>
              <a:rPr lang="en-US" sz="1700" dirty="0">
                <a:solidFill>
                  <a:srgbClr val="0B1F3A"/>
                </a:solidFill>
                <a:latin typeface="Calibri"/>
                <a:ea typeface="Calibri"/>
                <a:cs typeface="Calibri"/>
              </a:rPr>
              <a:t>Added charts, slicers, and a map, plus custom navigation buttons to move between the Overview, Sales Analysis, and Customer Insights pages.</a:t>
            </a:r>
          </a:p>
        </p:txBody>
      </p:sp>
      <p:sp>
        <p:nvSpPr>
          <p:cNvPr id="27" name="Page number"/>
          <p:cNvSpPr txBox="1"/>
          <p:nvPr/>
        </p:nvSpPr>
        <p:spPr>
          <a:xfrm>
            <a:off x="10789920" y="6355080"/>
            <a:ext cx="914400" cy="320040"/>
          </a:xfrm>
          <a:prstGeom prst="rect">
            <a:avLst/>
          </a:prstGeom>
          <a:noFill/>
        </p:spPr>
        <p:txBody>
          <a:bodyPr wrap="square" lIns="0" tIns="0" rIns="0" bIns="0" rtlCol="0" anchor="ctr">
            <a:noAutofit/>
          </a:bodyPr>
          <a:lstStyle/>
          <a:p>
            <a:pPr marL="0" indent="0" algn="r">
              <a:buNone/>
            </a:pPr>
            <a:r>
              <a:rPr lang="en-US" sz="1100" dirty="0">
                <a:solidFill>
                  <a:srgbClr val="5B6B82"/>
                </a:solidFill>
                <a:latin typeface="Calibri"/>
                <a:ea typeface="Calibri"/>
                <a:cs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marL="0" indent="0">
              <a:buNone/>
            </a:pPr>
            <a:r>
              <a:rPr lang="en-US" sz="1200" b="1" kern="0" spc="300" dirty="0">
                <a:solidFill>
                  <a:srgbClr val="0B8A7B"/>
                </a:solidFill>
                <a:latin typeface="Calibri" pitchFamily="34" charset="0"/>
                <a:ea typeface="Calibri" pitchFamily="34" charset="-122"/>
                <a:cs typeface="Calibri" pitchFamily="34" charset="-120"/>
              </a:rPr>
              <a:t>PROOF — POWER BI DASHBOARD</a:t>
            </a:r>
            <a:endParaRPr lang="en-US" sz="1200" dirty="0"/>
          </a:p>
        </p:txBody>
      </p:sp>
      <p:sp>
        <p:nvSpPr>
          <p:cNvPr id="3" name="Text 1"/>
          <p:cNvSpPr txBox="1"/>
          <p:nvPr/>
        </p:nvSpPr>
        <p:spPr>
          <a:xfrm>
            <a:off x="640080" y="777240"/>
            <a:ext cx="9601200" cy="640080"/>
          </a:xfrm>
          <a:prstGeom prst="rect">
            <a:avLst/>
          </a:prstGeom>
          <a:noFill/>
          <a:ln/>
        </p:spPr>
        <p:txBody>
          <a:bodyPr wrap="square" rtlCol="0" anchor="ctr"/>
          <a:lstStyle/>
          <a:p>
            <a:pPr marL="0" indent="0">
              <a:buNone/>
            </a:pPr>
            <a:r>
              <a:rPr lang="en-US" sz="2600" b="1" dirty="0">
                <a:solidFill>
                  <a:srgbClr val="0B1F3A"/>
                </a:solidFill>
                <a:latin typeface="Calibri" pitchFamily="34" charset="0"/>
                <a:ea typeface="Calibri" pitchFamily="34" charset="-122"/>
                <a:cs typeface="Calibri" pitchFamily="34" charset="-120"/>
              </a:rPr>
              <a:t>Overview, Sales Analysis, Customer Insights</a:t>
            </a:r>
            <a:endParaRPr lang="en-US" sz="2600" dirty="0"/>
          </a:p>
        </p:txBody>
      </p:sp>
      <p:sp>
        <p:nvSpPr>
          <p:cNvPr id="4" name="Shape 2"/>
          <p:cNvSpPr/>
          <p:nvPr/>
        </p:nvSpPr>
        <p:spPr>
          <a:xfrm>
            <a:off x="640080" y="1508760"/>
            <a:ext cx="10881360" cy="0"/>
          </a:xfrm>
          <a:prstGeom prst="line">
            <a:avLst/>
          </a:prstGeom>
          <a:noFill/>
          <a:ln w="12700">
            <a:solidFill>
              <a:srgbClr val="D3DEEB"/>
            </a:solidFill>
            <a:prstDash val="solid"/>
          </a:ln>
        </p:spPr>
        <p:txBody>
          <a:bodyPr/>
          <a:lstStyle/>
          <a:p>
            <a:endParaRPr lang="en-US"/>
          </a:p>
        </p:txBody>
      </p:sp>
      <p:sp>
        <p:nvSpPr>
          <p:cNvPr id="5" name="Shape 3"/>
          <p:cNvSpPr/>
          <p:nvPr/>
        </p:nvSpPr>
        <p:spPr>
          <a:xfrm>
            <a:off x="658368" y="1801368"/>
            <a:ext cx="3575304" cy="2017624"/>
          </a:xfrm>
          <a:prstGeom prst="rect">
            <a:avLst/>
          </a:prstGeom>
          <a:solidFill>
            <a:srgbClr val="FFFFFF"/>
          </a:solidFill>
          <a:ln w="12700">
            <a:solidFill>
              <a:srgbClr val="D3DEEB"/>
            </a:solidFill>
            <a:prstDash val="solid"/>
          </a:ln>
        </p:spPr>
        <p:txBody>
          <a:bodyPr/>
          <a:lstStyle/>
          <a:p>
            <a:endParaRPr lang="en-US"/>
          </a:p>
        </p:txBody>
      </p:sp>
      <p:pic>
        <p:nvPicPr>
          <p:cNvPr id="6" name="Image 0" descr="dash1.png"/>
          <p:cNvPicPr>
            <a:picLocks noChangeAspect="1"/>
          </p:cNvPicPr>
          <p:nvPr/>
        </p:nvPicPr>
        <p:blipFill>
          <a:blip r:embed="rId3"/>
          <a:stretch>
            <a:fillRect/>
          </a:stretch>
        </p:blipFill>
        <p:spPr>
          <a:xfrm>
            <a:off x="685800" y="1828800"/>
            <a:ext cx="3520440" cy="1962760"/>
          </a:xfrm>
          <a:prstGeom prst="rect">
            <a:avLst/>
          </a:prstGeom>
        </p:spPr>
      </p:pic>
      <p:sp>
        <p:nvSpPr>
          <p:cNvPr id="7" name="Text 4"/>
          <p:cNvSpPr txBox="1"/>
          <p:nvPr/>
        </p:nvSpPr>
        <p:spPr>
          <a:xfrm>
            <a:off x="640080" y="4983480"/>
            <a:ext cx="3611880" cy="320040"/>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Overview</a:t>
            </a:r>
            <a:endParaRPr lang="en-US" sz="1300" dirty="0"/>
          </a:p>
        </p:txBody>
      </p:sp>
      <p:sp>
        <p:nvSpPr>
          <p:cNvPr id="8" name="Shape 5"/>
          <p:cNvSpPr/>
          <p:nvPr/>
        </p:nvSpPr>
        <p:spPr>
          <a:xfrm>
            <a:off x="4498848" y="1801368"/>
            <a:ext cx="3575304" cy="2031983"/>
          </a:xfrm>
          <a:prstGeom prst="rect">
            <a:avLst/>
          </a:prstGeom>
          <a:solidFill>
            <a:srgbClr val="FFFFFF"/>
          </a:solidFill>
          <a:ln w="12700">
            <a:solidFill>
              <a:srgbClr val="D3DEEB"/>
            </a:solidFill>
            <a:prstDash val="solid"/>
          </a:ln>
        </p:spPr>
        <p:txBody>
          <a:bodyPr/>
          <a:lstStyle/>
          <a:p>
            <a:endParaRPr lang="en-US"/>
          </a:p>
        </p:txBody>
      </p:sp>
      <p:pic>
        <p:nvPicPr>
          <p:cNvPr id="9" name="Image 1" descr="dash2.png"/>
          <p:cNvPicPr>
            <a:picLocks noChangeAspect="1"/>
          </p:cNvPicPr>
          <p:nvPr/>
        </p:nvPicPr>
        <p:blipFill>
          <a:blip r:embed="rId4"/>
          <a:stretch>
            <a:fillRect/>
          </a:stretch>
        </p:blipFill>
        <p:spPr>
          <a:xfrm>
            <a:off x="4526280" y="1828800"/>
            <a:ext cx="3520440" cy="1977119"/>
          </a:xfrm>
          <a:prstGeom prst="rect">
            <a:avLst/>
          </a:prstGeom>
        </p:spPr>
      </p:pic>
      <p:sp>
        <p:nvSpPr>
          <p:cNvPr id="10" name="Text 6"/>
          <p:cNvSpPr txBox="1"/>
          <p:nvPr/>
        </p:nvSpPr>
        <p:spPr>
          <a:xfrm>
            <a:off x="4480560" y="4983480"/>
            <a:ext cx="3611880" cy="320040"/>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Sales Analysis</a:t>
            </a:r>
            <a:endParaRPr lang="en-US" sz="1300" dirty="0"/>
          </a:p>
        </p:txBody>
      </p:sp>
      <p:sp>
        <p:nvSpPr>
          <p:cNvPr id="11" name="Shape 7"/>
          <p:cNvSpPr/>
          <p:nvPr/>
        </p:nvSpPr>
        <p:spPr>
          <a:xfrm>
            <a:off x="8339328" y="1801368"/>
            <a:ext cx="3575304" cy="2030152"/>
          </a:xfrm>
          <a:prstGeom prst="rect">
            <a:avLst/>
          </a:prstGeom>
          <a:solidFill>
            <a:srgbClr val="FFFFFF"/>
          </a:solidFill>
          <a:ln w="12700">
            <a:solidFill>
              <a:srgbClr val="D3DEEB"/>
            </a:solidFill>
            <a:prstDash val="solid"/>
          </a:ln>
        </p:spPr>
        <p:txBody>
          <a:bodyPr/>
          <a:lstStyle/>
          <a:p>
            <a:endParaRPr lang="en-US"/>
          </a:p>
        </p:txBody>
      </p:sp>
      <p:pic>
        <p:nvPicPr>
          <p:cNvPr id="12" name="Image 2" descr="dash3.png"/>
          <p:cNvPicPr>
            <a:picLocks noChangeAspect="1"/>
          </p:cNvPicPr>
          <p:nvPr/>
        </p:nvPicPr>
        <p:blipFill>
          <a:blip r:embed="rId5"/>
          <a:stretch>
            <a:fillRect/>
          </a:stretch>
        </p:blipFill>
        <p:spPr>
          <a:xfrm>
            <a:off x="8366760" y="1828800"/>
            <a:ext cx="3520440" cy="1975288"/>
          </a:xfrm>
          <a:prstGeom prst="rect">
            <a:avLst/>
          </a:prstGeom>
        </p:spPr>
      </p:pic>
      <p:sp>
        <p:nvSpPr>
          <p:cNvPr id="13" name="Text 8"/>
          <p:cNvSpPr txBox="1"/>
          <p:nvPr/>
        </p:nvSpPr>
        <p:spPr>
          <a:xfrm>
            <a:off x="8321040" y="4983480"/>
            <a:ext cx="3611880" cy="320040"/>
          </a:xfrm>
          <a:prstGeom prst="rect">
            <a:avLst/>
          </a:prstGeom>
          <a:noFill/>
          <a:ln/>
        </p:spPr>
        <p:txBody>
          <a:bodyPr wrap="square"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Customer Insights</a:t>
            </a:r>
            <a:endParaRPr lang="en-US" sz="1300" dirty="0"/>
          </a:p>
        </p:txBody>
      </p:sp>
      <p:sp>
        <p:nvSpPr>
          <p:cNvPr id="14" name="Text 9"/>
          <p:cNvSpPr txBox="1"/>
          <p:nvPr/>
        </p:nvSpPr>
        <p:spPr>
          <a:xfrm>
            <a:off x="11247120" y="6355080"/>
            <a:ext cx="731520" cy="365760"/>
          </a:xfrm>
          <a:prstGeom prst="rect">
            <a:avLst/>
          </a:prstGeom>
          <a:noFill/>
          <a:ln/>
        </p:spPr>
        <p:txBody>
          <a:bodyPr wrap="square"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9144000" cy="365760"/>
          </a:xfrm>
          <a:prstGeom prst="rect">
            <a:avLst/>
          </a:prstGeom>
          <a:noFill/>
          <a:ln/>
        </p:spPr>
        <p:txBody>
          <a:bodyPr wrap="square" rtlCol="0" anchor="ctr"/>
          <a:lstStyle/>
          <a:p>
            <a:pPr marL="0" indent="0">
              <a:buNone/>
            </a:pPr>
            <a:r>
              <a:rPr lang="en-US" sz="1300" b="1" kern="0" spc="300" dirty="0">
                <a:solidFill>
                  <a:srgbClr val="7FE0D2"/>
                </a:solidFill>
                <a:latin typeface="Calibri" pitchFamily="34" charset="0"/>
                <a:ea typeface="Calibri" pitchFamily="34" charset="-122"/>
                <a:cs typeface="Calibri" pitchFamily="34" charset="-120"/>
              </a:rPr>
              <a:t>FROM AN IDEA TO A WORKING PIPELINE</a:t>
            </a:r>
            <a:endParaRPr lang="en-US" sz="1300" dirty="0"/>
          </a:p>
        </p:txBody>
      </p:sp>
      <p:sp>
        <p:nvSpPr>
          <p:cNvPr id="3" name="Text 1"/>
          <p:cNvSpPr txBox="1"/>
          <p:nvPr/>
        </p:nvSpPr>
        <p:spPr>
          <a:xfrm>
            <a:off x="777240" y="1051560"/>
            <a:ext cx="914400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Nine Steps, One Project</a:t>
            </a:r>
            <a:endParaRPr lang="en-US" sz="3200" dirty="0"/>
          </a:p>
        </p:txBody>
      </p:sp>
      <p:sp>
        <p:nvSpPr>
          <p:cNvPr id="4" name="Shape 2"/>
          <p:cNvSpPr/>
          <p:nvPr/>
        </p:nvSpPr>
        <p:spPr>
          <a:xfrm>
            <a:off x="822960" y="2377440"/>
            <a:ext cx="1691640" cy="548640"/>
          </a:xfrm>
          <a:prstGeom prst="rect">
            <a:avLst/>
          </a:prstGeom>
          <a:solidFill>
            <a:srgbClr val="0B8A7B"/>
          </a:solidFill>
          <a:ln/>
        </p:spPr>
        <p:txBody>
          <a:bodyPr/>
          <a:lstStyle/>
          <a:p>
            <a:endParaRPr lang="en-US"/>
          </a:p>
        </p:txBody>
      </p:sp>
      <p:sp>
        <p:nvSpPr>
          <p:cNvPr id="5" name="Text 3"/>
          <p:cNvSpPr txBox="1"/>
          <p:nvPr/>
        </p:nvSpPr>
        <p:spPr>
          <a:xfrm>
            <a:off x="8229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Python</a:t>
            </a:r>
            <a:endParaRPr lang="en-US" sz="1300" dirty="0"/>
          </a:p>
        </p:txBody>
      </p:sp>
      <p:sp>
        <p:nvSpPr>
          <p:cNvPr id="6" name="Shape 4"/>
          <p:cNvSpPr/>
          <p:nvPr/>
        </p:nvSpPr>
        <p:spPr>
          <a:xfrm>
            <a:off x="2651760" y="2377440"/>
            <a:ext cx="1691640" cy="548640"/>
          </a:xfrm>
          <a:prstGeom prst="rect">
            <a:avLst/>
          </a:prstGeom>
          <a:solidFill>
            <a:srgbClr val="0B8A7B"/>
          </a:solidFill>
          <a:ln/>
        </p:spPr>
        <p:txBody>
          <a:bodyPr/>
          <a:lstStyle/>
          <a:p>
            <a:endParaRPr lang="en-US"/>
          </a:p>
        </p:txBody>
      </p:sp>
      <p:sp>
        <p:nvSpPr>
          <p:cNvPr id="7" name="Text 5"/>
          <p:cNvSpPr txBox="1"/>
          <p:nvPr/>
        </p:nvSpPr>
        <p:spPr>
          <a:xfrm>
            <a:off x="26517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pandas</a:t>
            </a:r>
            <a:endParaRPr lang="en-US" sz="1300" dirty="0"/>
          </a:p>
        </p:txBody>
      </p:sp>
      <p:sp>
        <p:nvSpPr>
          <p:cNvPr id="8" name="Shape 6"/>
          <p:cNvSpPr/>
          <p:nvPr/>
        </p:nvSpPr>
        <p:spPr>
          <a:xfrm>
            <a:off x="4480560" y="2377440"/>
            <a:ext cx="1691640" cy="548640"/>
          </a:xfrm>
          <a:prstGeom prst="rect">
            <a:avLst/>
          </a:prstGeom>
          <a:solidFill>
            <a:srgbClr val="0B8A7B"/>
          </a:solidFill>
          <a:ln/>
        </p:spPr>
        <p:txBody>
          <a:bodyPr/>
          <a:lstStyle/>
          <a:p>
            <a:endParaRPr lang="en-US"/>
          </a:p>
        </p:txBody>
      </p:sp>
      <p:sp>
        <p:nvSpPr>
          <p:cNvPr id="9" name="Text 7"/>
          <p:cNvSpPr txBox="1"/>
          <p:nvPr/>
        </p:nvSpPr>
        <p:spPr>
          <a:xfrm>
            <a:off x="44805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SQL Server</a:t>
            </a:r>
            <a:endParaRPr lang="en-US" sz="1300" dirty="0"/>
          </a:p>
        </p:txBody>
      </p:sp>
      <p:sp>
        <p:nvSpPr>
          <p:cNvPr id="10" name="Shape 8"/>
          <p:cNvSpPr/>
          <p:nvPr/>
        </p:nvSpPr>
        <p:spPr>
          <a:xfrm>
            <a:off x="6309360" y="2377440"/>
            <a:ext cx="1691640" cy="548640"/>
          </a:xfrm>
          <a:prstGeom prst="rect">
            <a:avLst/>
          </a:prstGeom>
          <a:solidFill>
            <a:srgbClr val="0B8A7B"/>
          </a:solidFill>
          <a:ln/>
        </p:spPr>
        <p:txBody>
          <a:bodyPr/>
          <a:lstStyle/>
          <a:p>
            <a:endParaRPr lang="en-US"/>
          </a:p>
        </p:txBody>
      </p:sp>
      <p:sp>
        <p:nvSpPr>
          <p:cNvPr id="11" name="Text 9"/>
          <p:cNvSpPr txBox="1"/>
          <p:nvPr/>
        </p:nvSpPr>
        <p:spPr>
          <a:xfrm>
            <a:off x="63093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draw.io</a:t>
            </a:r>
            <a:endParaRPr lang="en-US" sz="1300" dirty="0"/>
          </a:p>
        </p:txBody>
      </p:sp>
      <p:sp>
        <p:nvSpPr>
          <p:cNvPr id="12" name="Shape 10"/>
          <p:cNvSpPr/>
          <p:nvPr/>
        </p:nvSpPr>
        <p:spPr>
          <a:xfrm>
            <a:off x="8138160" y="2377440"/>
            <a:ext cx="1691640" cy="548640"/>
          </a:xfrm>
          <a:prstGeom prst="rect">
            <a:avLst/>
          </a:prstGeom>
          <a:solidFill>
            <a:srgbClr val="0B8A7B"/>
          </a:solidFill>
          <a:ln/>
        </p:spPr>
        <p:txBody>
          <a:bodyPr/>
          <a:lstStyle/>
          <a:p>
            <a:endParaRPr lang="en-US"/>
          </a:p>
        </p:txBody>
      </p:sp>
      <p:sp>
        <p:nvSpPr>
          <p:cNvPr id="13" name="Text 11"/>
          <p:cNvSpPr txBox="1"/>
          <p:nvPr/>
        </p:nvSpPr>
        <p:spPr>
          <a:xfrm>
            <a:off x="81381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Excel</a:t>
            </a:r>
            <a:endParaRPr lang="en-US" sz="1300" dirty="0"/>
          </a:p>
        </p:txBody>
      </p:sp>
      <p:sp>
        <p:nvSpPr>
          <p:cNvPr id="14" name="Shape 12"/>
          <p:cNvSpPr/>
          <p:nvPr/>
        </p:nvSpPr>
        <p:spPr>
          <a:xfrm>
            <a:off x="9966960" y="2377440"/>
            <a:ext cx="1691640" cy="548640"/>
          </a:xfrm>
          <a:prstGeom prst="rect">
            <a:avLst/>
          </a:prstGeom>
          <a:solidFill>
            <a:srgbClr val="0B8A7B"/>
          </a:solidFill>
          <a:ln/>
        </p:spPr>
        <p:txBody>
          <a:bodyPr/>
          <a:lstStyle/>
          <a:p>
            <a:endParaRPr lang="en-US"/>
          </a:p>
        </p:txBody>
      </p:sp>
      <p:sp>
        <p:nvSpPr>
          <p:cNvPr id="15" name="Text 13"/>
          <p:cNvSpPr txBox="1"/>
          <p:nvPr/>
        </p:nvSpPr>
        <p:spPr>
          <a:xfrm>
            <a:off x="9966960" y="2377440"/>
            <a:ext cx="1691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Power BI</a:t>
            </a:r>
            <a:endParaRPr lang="en-US" sz="1300" dirty="0"/>
          </a:p>
        </p:txBody>
      </p:sp>
      <p:sp>
        <p:nvSpPr>
          <p:cNvPr id="16" name="Text 14"/>
          <p:cNvSpPr txBox="1"/>
          <p:nvPr/>
        </p:nvSpPr>
        <p:spPr>
          <a:xfrm>
            <a:off x="822960" y="3291840"/>
            <a:ext cx="9875520" cy="914400"/>
          </a:xfrm>
          <a:prstGeom prst="rect">
            <a:avLst/>
          </a:prstGeom>
          <a:noFill/>
          <a:ln/>
        </p:spPr>
        <p:txBody>
          <a:bodyPr wrap="square" rtlCol="0" anchor="ctr"/>
          <a:lstStyle/>
          <a:p>
            <a:pPr marL="0" indent="0">
              <a:lnSpc>
                <a:spcPct val="125000"/>
              </a:lnSpc>
              <a:buNone/>
            </a:pPr>
            <a:r>
              <a:rPr lang="en-US" sz="1600" i="1" dirty="0">
                <a:solidFill>
                  <a:srgbClr val="FFFFFF"/>
                </a:solidFill>
                <a:latin typeface="Calibri" pitchFamily="34" charset="0"/>
                <a:ea typeface="Calibri" pitchFamily="34" charset="-122"/>
                <a:cs typeface="Calibri" pitchFamily="34" charset="-120"/>
              </a:rPr>
              <a:t>Every table, query, chart and dashboard page in this project was built and tested by hand, step by step.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869</Words>
  <Application>Microsoft Office PowerPoint</Application>
  <PresentationFormat>Widescreen</PresentationFormat>
  <Paragraphs>119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Jana Ahmed Soliman Mohammed Elmelegy</cp:lastModifiedBy>
  <cp:revision>4</cp:revision>
  <dcterms:created xsi:type="dcterms:W3CDTF">2026-10-07T10:41:08Z</dcterms:created>
  <dcterms:modified xsi:type="dcterms:W3CDTF">2026-10-07T14:57:50Z</dcterms:modified>
</cp:coreProperties>
</file>